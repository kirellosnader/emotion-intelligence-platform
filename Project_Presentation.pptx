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0D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Customer Sentiment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Emotion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3F2FD"/>
                </a:solidFill>
                <a:latin typeface="Calibri"/>
              </a:rPr>
              <a:t>End-to-End NLP System for Emotion Classification, Priority Scoring &amp; Live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4572000" cy="457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Kirellos Nader   ·   Fayrous Hassan   ·   Loaa Elshatby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Karim Yunis   ·   Mazen Eldayash   ·   Luay Mohamed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909C"/>
                </a:solidFill>
                <a:latin typeface="Calibri"/>
              </a:rPr>
              <a:t>September 2026   ·   TechTrek Final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76D2"/>
                </a:solidFill>
                <a:latin typeface="Calibri"/>
              </a:rPr>
              <a:t>github.com/KirellosNader/emotion-intelligence-platform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303520" cy="502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075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76D2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Project Overview &amp;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530352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3075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3F2F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47088"/>
            <a:ext cx="5303520" cy="502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76D2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Classical ML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847088"/>
            <a:ext cx="530352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3F2FD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3852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Deep Learning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459736"/>
            <a:ext cx="5303520" cy="502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328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76D2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55117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Transformer (DistilBERT)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459736"/>
            <a:ext cx="530352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5328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3F2FD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5117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Full Model Comparison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072384"/>
            <a:ext cx="5303520" cy="502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14553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76D2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163824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Topic Modeling &amp; Priority Scoring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072384"/>
            <a:ext cx="530352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14553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3F2FD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163824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SQL Analytics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685032"/>
            <a:ext cx="5303520" cy="502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581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76D2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776472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Streamlit App &amp; Deployment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3685032"/>
            <a:ext cx="5303520" cy="5029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7581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3F2FD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776472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Key Findings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What does the platform 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148840" cy="21945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148840" cy="91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9903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76D2"/>
                </a:solidFill>
                <a:latin typeface="Calibri"/>
              </a:rPr>
              <a:t>Emotion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47672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alibri"/>
              </a:rPr>
              <a:t>Classify customer text into 6 emotions using 9 benchmarked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234440"/>
            <a:ext cx="2148840" cy="21945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234440"/>
            <a:ext cx="2148840" cy="914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39903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6B"/>
                </a:solidFill>
                <a:latin typeface="Calibri"/>
              </a:rPr>
              <a:t>Topic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947672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alibri"/>
              </a:rPr>
              <a:t>LDA-based topic extraction (3 topics / emotion) for deeper intent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234440"/>
            <a:ext cx="2148840" cy="21945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80" y="1234440"/>
            <a:ext cx="214884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8" y="139903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Priority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947672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alibri"/>
              </a:rPr>
              <a:t>Rule-based triage engine assigning High / Medium / Low priority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234440"/>
            <a:ext cx="2148840" cy="21945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234440"/>
            <a:ext cx="2148840" cy="9144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139903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7F17"/>
                </a:solidFill>
                <a:latin typeface="Calibri"/>
              </a:rPr>
              <a:t>SQL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1947672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alibri"/>
              </a:rPr>
              <a:t>30 analytical queries across 7 database tables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1234440"/>
            <a:ext cx="2148840" cy="21945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46920" y="1234440"/>
            <a:ext cx="2148840" cy="91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6648" y="139903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  <a:latin typeface="Calibri"/>
              </a:rPr>
              <a:t>Streamlit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1947672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alibri"/>
              </a:rPr>
              <a:t>3-tab live prediction web app deployed with Docker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657600"/>
            <a:ext cx="11521440" cy="822960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Dataset:  dair-ai/emotion  (HuggingFace)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0690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16,000 labeled texts   ·   6 emotion classes   ·   Imbalanced (~9:1 joy vs surprise)   ·   Train 13,000 / Val 2,000 / Test 3,200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Project folder structure &amp;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5943600" cy="4206240"/>
          </a:xfrm>
          <a:prstGeom prst="roundRect">
            <a:avLst/>
          </a:prstGeom>
          <a:solidFill>
            <a:srgbClr val="1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ourier New"/>
              </a:rPr>
              <a:t>emotion-intelligence-platform/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922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ourier New"/>
              </a:rPr>
              <a:t>  app/app.py                 Streamlit web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ourier New"/>
              </a:rPr>
              <a:t>  data/emotion_analysis.db   SQLite analytics DB (7 tables)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ourier New"/>
              </a:rPr>
              <a:t>  notebooks/                 Training &amp; analysis Jupyter notebooks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ourier New"/>
              </a:rPr>
              <a:t>  saved_models/              Deployed TF-IDF + LinearSVC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ourier New"/>
              </a:rPr>
              <a:t>  sql/analytical_queries.sql 30 SQL queries across 7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953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ourier New"/>
              </a:rPr>
              <a:t>  all_results/               Full experiment bundle (gitignored)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159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  <a:latin typeface="Courier New"/>
              </a:rPr>
              <a:t>  Dockerfile                 Docker build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Technology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645920"/>
            <a:ext cx="246888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Classical ML + TF-IDF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45920"/>
            <a:ext cx="2468880" cy="64008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PyTorch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Deep Learning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395728"/>
            <a:ext cx="246888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HuggingFace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15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DistilBERT fine-tuning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395728"/>
            <a:ext cx="2468880" cy="640080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Gensim LDA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715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Topic modeling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145536"/>
            <a:ext cx="246888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191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SQLite3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465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Analytics database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3145536"/>
            <a:ext cx="2468880" cy="6400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191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465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Web application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895344"/>
            <a:ext cx="2468880" cy="64008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941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2153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Containerized deploy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895344"/>
            <a:ext cx="2468880" cy="64008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941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OpenAI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2153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RAG generation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emotion_analysis.db  —  7 tables, SQLite</a:t>
            </a:r>
          </a:p>
        </p:txBody>
      </p:sp>
      <p:pic>
        <p:nvPicPr>
          <p:cNvPr id="6" name="Picture 5" descr="Screenshot 2026-09-16 1428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400800" cy="37802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Tables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45920"/>
            <a:ext cx="4937760" cy="5943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6916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alibri"/>
              </a:rPr>
              <a:t>TOPIC_ASSIGNMENTS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9476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Main triage table (emotion, topic, priority)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304288"/>
            <a:ext cx="4937760" cy="5943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35000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alibri"/>
              </a:rPr>
              <a:t>MODEL_COMPARISON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6060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Benchmark metrics for all 9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962656"/>
            <a:ext cx="4937760" cy="5943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00837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alibri"/>
              </a:rPr>
              <a:t>CLASSICAL_SWEEP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26440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Hyperparameter grid-search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621024"/>
            <a:ext cx="4937760" cy="5943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36667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alibri"/>
              </a:rPr>
              <a:t>HUMAN_REVIEW_QUEUE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92277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60-item QA / edge-case queue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4279392"/>
            <a:ext cx="4937760" cy="5943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3251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alibri"/>
              </a:rPr>
              <a:t>PREDICTIONS_TEXTS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5811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Ground-truth texts + true labels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937760"/>
            <a:ext cx="4937760" cy="5943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9834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alibri"/>
              </a:rPr>
              <a:t>PREDICTIONS_MODELS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2395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Model registry (9 models)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5596128"/>
            <a:ext cx="4937760" cy="5943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56418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alibri"/>
              </a:rPr>
              <a:t>MODEL_PREDICTIONS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8978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Bridge: text_id x model_id →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Classical ML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TF-IDF feature extraction + 3 classifiers benchmarked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Baseline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459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TF-IDF + Linear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88.94%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86.19%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TF-IDF + Log. Regression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87.44%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84.79%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TF-IDF + 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62.72%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33.36%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31546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Best Config: Unigram (1,1), max_features=5,000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356616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Emotion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sadness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94.03%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92.54%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joy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92.79%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90.02%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91.38%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love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75.84%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86.59%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80.86%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anger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87.61%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90.05%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88.81%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fear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85.45%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85.01%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85.23%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surprise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77.52%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86.96%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81.97%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26480" y="1234440"/>
            <a:ext cx="5715000" cy="489204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Probability Calibration (CalibratedClassifierCV)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1691640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0.1544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  <a:latin typeface="Calibri"/>
              </a:rPr>
              <a:t>Brier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83080"/>
            <a:ext cx="1691640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85623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0.3054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  <a:latin typeface="Calibri"/>
              </a:rPr>
              <a:t>Log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783080"/>
            <a:ext cx="1691640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185623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0.0585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  <a:latin typeface="Calibri"/>
              </a:rPr>
              <a:t>Top-label ECE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80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Confidence Threshold Analysis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309360" y="32461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90.95%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88.19%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80.09%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96.49%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94.94%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49.09%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99.43%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74F"/>
                          </a:solidFill>
                          <a:latin typeface="Calibri"/>
                        </a:rPr>
                        <a:t>98.97%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309360" y="47548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●  At threshold 0.9 → 99.43% accuracy on 49% of data
●  Plain unigrams (5k vocab) beat all richer configurations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Deep Learning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6 embedding-based neural architectures evaluated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5760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1801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Weighted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GRU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90.97%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87.95%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91.19%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90.34%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87.59%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90.60%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RNN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86.59%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86.78%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84.97%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82.85%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84.98%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Embedding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BiLSTM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80.69%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79.37%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80.86%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Best DL Model: GRU  —  Per-Class 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663440"/>
          <a:ext cx="57607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Emotion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sadness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96.21%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95.18%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95.69%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joy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96.88%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87.03%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91.70%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love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71.55%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81.77%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anger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92.59%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92.59%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92.59%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fear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88.83%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86.30%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87.55%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79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surprise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67.72%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93.04%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7474F"/>
                          </a:solidFill>
                          <a:latin typeface="Calibri"/>
                        </a:rPr>
                        <a:t>78.39%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234440"/>
            <a:ext cx="5440680" cy="530352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Key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737360"/>
            <a:ext cx="5074920" cy="621792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81051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●  GRU outperforms LSTM by ~0.36 accuracy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450592"/>
            <a:ext cx="5074920" cy="621792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52374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●  BiLSTM severely underperforms (training issue — to revisit)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163824"/>
            <a:ext cx="5074920" cy="621792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23697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●  Love &amp; Surprise: low precision across all DL models due to class imbalance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877056"/>
            <a:ext cx="5074920" cy="621792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9502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●  GRU reaches 90.97% — within 2 pts of DistilBERT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590288"/>
            <a:ext cx="5074920" cy="621792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6634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●  Embedding-based models all trained end-to-end with word indices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5303520"/>
            <a:ext cx="5074920" cy="621792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53766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●  All 6 weights saved to all_results/deep_learning/weights/*.pt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Transformer: DistilBERT (Fine-Tuned)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Best overall model across all 9 benchmarked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2148840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92.72%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  <a:latin typeface="Calibri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280160"/>
            <a:ext cx="2148840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3533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90.21%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  <a:latin typeface="Calibri"/>
              </a:rPr>
              <a:t>Macro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280160"/>
            <a:ext cx="2148840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3533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92.91%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  <a:latin typeface="Calibri"/>
              </a:rPr>
              <a:t>Weighted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280160"/>
            <a:ext cx="2148840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3533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87.81%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  <a:latin typeface="Calibri"/>
              </a:rPr>
              <a:t>Macro Precision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280160"/>
            <a:ext cx="2148840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3533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93.76%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7373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  <a:latin typeface="Calibri"/>
              </a:rPr>
              <a:t>Macro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42316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Per-Class Classification Report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0040" y="283464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Emotion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sadness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97.79%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95.07%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96.41%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joy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98.07%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90.21%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93.97%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1,072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love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74.70%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96.17%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84.09%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anger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94.54%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92.13%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93.32%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fear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88.86%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89.77%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surprise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72.90%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98.26%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83.70%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37474F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583680" y="1234440"/>
            <a:ext cx="5257800" cy="53949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About DistilBERT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8745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●  Distilled version of BERT, retaining ~97% language understanding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386583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●  40% smaller and 60% faster than full BERT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89864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●  Fine-tuned on the dair-ai/emotion training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410711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●  Best Macro F1 of 90.21% — #1 across all 9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922775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●  Saved as HuggingFace model (model.safetensors ~260 MB)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4348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●  NOT deployed in the app due to size — LinearSVC serves instead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946903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●  Natural next step: deploy DistilBERT when compute allows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Full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All 9 models ranked by Macro F1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521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Weighted 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DistilBERT (fine-tuned)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92.72%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92.91%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#2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GRU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90.97%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87.95%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91.19%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87.59%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90.60%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#4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TF-IDF + Linear SVM (tuned)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89.34%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86.80%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89.43%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TF-IDF + Log. Regression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87.84%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85.29%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88.04%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#6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RNN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86.59%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84.35%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86.78%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#7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82.85%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#8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Embedding MLP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84.38%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80.38%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84.60%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#9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BiLSTM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80.69%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79.37%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Calibri"/>
                        </a:rPr>
                        <a:t>80.86%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56235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7E"/>
                </a:solidFill>
                <a:latin typeface="Calibri"/>
              </a:rPr>
              <a:t>●  DistilBERT vs best classical: only ~3.4% accuracy gap  →  LinearSVC deployed for lightweight serving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710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7E"/>
                </a:solidFill>
                <a:latin typeface="Calibri"/>
              </a:rPr>
              <a:t>●  GRU is the best non-transformer model (90.97%)   ·   BiLSTM is the worst DL model (training issue)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Topic Modeling &amp; Priority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LDA Topic Modeling  (3 topics per emotion)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00200"/>
            <a:ext cx="6400800" cy="5120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733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alibri"/>
              </a:rPr>
              <a:t>Sadness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Loss &amp; Daily Sadness  ·  Worthlessness &amp; Guilt  ·  Self-Blame &amp; Misery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176272"/>
            <a:ext cx="6400800" cy="5120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494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Joy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677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Happiness &amp; Gratitude  ·  Positive Achievement  ·  Contentment &amp; Satisfaction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752344"/>
            <a:ext cx="6400800" cy="5120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8254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1E63"/>
                </a:solidFill>
                <a:latin typeface="Calibri"/>
              </a:rPr>
              <a:t>Love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437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Affection &amp; Caring  ·  Emotional Attachment  ·  Playful &amp; Romantic Affection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328416"/>
            <a:ext cx="6400800" cy="5120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4015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360C"/>
                </a:solidFill>
                <a:latin typeface="Calibri"/>
              </a:rPr>
              <a:t>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198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Irritation &amp; Anger  ·  Conflict &amp; Resentment  ·  Intense Anger &amp; Frustration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904488"/>
            <a:ext cx="6400800" cy="5120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776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6B"/>
                </a:solidFill>
                <a:latin typeface="Calibri"/>
              </a:rPr>
              <a:t>Fear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959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Nervousness &amp; Fear  ·  Insecurity &amp; Vulnerability  ·  Anxiety &amp; Paranoia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480560"/>
            <a:ext cx="6400800" cy="5120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537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F17"/>
                </a:solidFill>
                <a:latin typeface="Calibri"/>
              </a:rPr>
              <a:t>Surprise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Amazement &amp; Unexpected  ·  Curiosity &amp; Exploration  ·  Strangeness &amp; Amazement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188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Priority Scoring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600200"/>
            <a:ext cx="4846320" cy="475488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49640" y="1691640"/>
            <a:ext cx="3657600" cy="2926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16733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Anger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80392" y="16916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90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148840"/>
            <a:ext cx="4846320" cy="475488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9640" y="2240280"/>
            <a:ext cx="3454400" cy="292608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22219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Fear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7192" y="22402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85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2697480"/>
            <a:ext cx="4846320" cy="475488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49640" y="2788920"/>
            <a:ext cx="3251200" cy="2926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770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Sadness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73992" y="27889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80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3246120"/>
            <a:ext cx="4846320" cy="475488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49640" y="3337560"/>
            <a:ext cx="2032000" cy="29260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33192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Surprise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4792" y="333756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50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3794760"/>
            <a:ext cx="4846320" cy="475488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49640" y="3886200"/>
            <a:ext cx="1219200" cy="29260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38679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Love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41992" y="3886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80" y="4343400"/>
            <a:ext cx="4846320" cy="475488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49640" y="4434840"/>
            <a:ext cx="81280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4416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Joy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35592" y="44348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20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5212080"/>
            <a:ext cx="4846320" cy="621792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78040" y="52852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Urgency Keywords (score = 100):  urgent · immediately · asap · critical · emergency · serious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SQL Analytics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30 queries across 7 tables  —  sql/analytical_queries.sql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788920" cy="4846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88920" cy="91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441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76D2"/>
                </a:solidFill>
                <a:latin typeface="Calibri"/>
              </a:rPr>
              <a:t>Q1–9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Topic &amp; Business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8909C"/>
                </a:solidFill>
                <a:latin typeface="Calibri"/>
              </a:rPr>
              <a:t>topic_assignments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Top priority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278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Emotion &amp; topic distributions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5818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Urgency hit rates by emotion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8853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Avg priority per emotion/topic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234440"/>
            <a:ext cx="2788920" cy="4846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234440"/>
            <a:ext cx="278892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3441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Q10–16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6916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148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8909C"/>
                </a:solidFill>
                <a:latin typeface="Calibri"/>
              </a:rPr>
              <a:t>model_comparison, classical_sweep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6974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Best models by Macro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2278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Avg metrics by model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75818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N-gram sweep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28853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Best classical config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234440"/>
            <a:ext cx="2788920" cy="4846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234440"/>
            <a:ext cx="2788920" cy="914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3441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96B"/>
                </a:solidFill>
                <a:latin typeface="Calibri"/>
              </a:rPr>
              <a:t>Q17–20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6916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Human Review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148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8909C"/>
                </a:solidFill>
                <a:latin typeface="Calibri"/>
              </a:rPr>
              <a:t>human_review_queue, topic_assignments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6974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Review queue breakdown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2278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Missed-urgent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75818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Business score by priority level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234440"/>
            <a:ext cx="2788920" cy="48463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1234440"/>
            <a:ext cx="2788920" cy="9144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13441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7F17"/>
                </a:solidFill>
                <a:latin typeface="Calibri"/>
              </a:rPr>
              <a:t>Q21–30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16916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Prediction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148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8909C"/>
                </a:solidFill>
                <a:latin typeface="Calibri"/>
              </a:rPr>
              <a:t>predictions_texts, predictions_models, model_predictions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6974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Per-model accuracy (JOIN)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32278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RANK() window function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75818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CTE best-model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28853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●  PARTITION BY per-class best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6217920"/>
            <a:ext cx="11521440" cy="4572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2819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Advanced SQL:  JOINs across 3 tables   ·   CTEs   ·   RANK() / AVG() window functions   ·   PARTITION BY   ·   CASE-based accuracy pivot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Streamlit Application  —  Overview Tab</a:t>
            </a:r>
          </a:p>
        </p:txBody>
      </p:sp>
      <p:pic>
        <p:nvPicPr>
          <p:cNvPr id="5" name="Picture 4" descr="Screenshot 2026-09-16 150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669280" cy="2855668"/>
          </a:xfrm>
          <a:prstGeom prst="rect">
            <a:avLst/>
          </a:prstGeom>
        </p:spPr>
      </p:pic>
      <p:pic>
        <p:nvPicPr>
          <p:cNvPr id="6" name="Picture 5" descr="Screenshot 2026-09-16 1510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669280" cy="2786166"/>
          </a:xfrm>
          <a:prstGeom prst="rect">
            <a:avLst/>
          </a:prstGeom>
        </p:spPr>
      </p:pic>
      <p:pic>
        <p:nvPicPr>
          <p:cNvPr id="7" name="Picture 6" descr="Screenshot 2026-09-16 1511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31920"/>
            <a:ext cx="11521440" cy="57863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909C"/>
                </a:solidFill>
                <a:latin typeface="Calibri"/>
              </a:rPr>
              <a:t>Left: App header with model info sidebar   ·   Right: Full emotion distribution bar chart   ·   Bottom: Sample data table &amp; model version 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Streamlit Application  —  Classify Tab</a:t>
            </a:r>
          </a:p>
        </p:txBody>
      </p:sp>
      <p:pic>
        <p:nvPicPr>
          <p:cNvPr id="5" name="Picture 4" descr="Screenshot 2026-09-16 151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669280" cy="2861916"/>
          </a:xfrm>
          <a:prstGeom prst="rect">
            <a:avLst/>
          </a:prstGeom>
        </p:spPr>
      </p:pic>
      <p:pic>
        <p:nvPicPr>
          <p:cNvPr id="6" name="Picture 5" descr="Screenshot 2026-09-16 151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669280" cy="2807403"/>
          </a:xfrm>
          <a:prstGeom prst="rect">
            <a:avLst/>
          </a:prstGeom>
        </p:spPr>
      </p:pic>
      <p:pic>
        <p:nvPicPr>
          <p:cNvPr id="7" name="Picture 6" descr="Screenshot 2026-09-16 1516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31920"/>
            <a:ext cx="11521440" cy="5846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909C"/>
                </a:solidFill>
                <a:latin typeface="Calibri"/>
              </a:rPr>
              <a:t>Left: Single text input + batch CSV upload interface   ·   Right: Prediction result for 'i am really happy' → Joy with decision scores   ·   Bottom: Batch CSV preview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Streamlit Application  —  RAG Assistant Tab</a:t>
            </a:r>
          </a:p>
        </p:txBody>
      </p:sp>
      <p:pic>
        <p:nvPicPr>
          <p:cNvPr id="5" name="Picture 4" descr="Screenshot 2026-09-16 151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669280" cy="2874505"/>
          </a:xfrm>
          <a:prstGeom prst="rect">
            <a:avLst/>
          </a:prstGeom>
        </p:spPr>
      </p:pic>
      <p:pic>
        <p:nvPicPr>
          <p:cNvPr id="6" name="Picture 5" descr="Screenshot 2026-09-16 1514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669280" cy="28704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40" y="4434840"/>
            <a:ext cx="115214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How RAG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983480"/>
            <a:ext cx="2697480" cy="13258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0749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422392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TF-IDF cosine similarity finds top-5 most relevant examples from the labeled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983480"/>
            <a:ext cx="2697480" cy="13258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0749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Augment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422392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Retrieved examples form the grounded context passed to the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983480"/>
            <a:ext cx="2697480" cy="13258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50749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422392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GPT-4o-mini synthesizes an answer based ONLY on the retrieved examples (no hallucination)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983480"/>
            <a:ext cx="2697480" cy="13258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50749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5422392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  <a:latin typeface="Calibri"/>
              </a:rPr>
              <a:t>Without OpenAI API key → extractive-only mode (shows retrieved examples directly)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Experiment Artifacts  (all_results/)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  <a:latin typeface="Calibri"/>
              </a:rPr>
              <a:t>Excluded from git due to file size  —  fully documented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788920" cy="2148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8892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44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  <a:latin typeface="Courier New"/>
              </a:rPr>
              <a:t>classical/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best_model.joblib, calibrated_model.joblib,
calibration_summary.csv, threshold_analysis.csv,
lr_vs_svm_baseline.csv, ngram_sweep.csv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F17"/>
                </a:solidFill>
                <a:latin typeface="Calibri"/>
              </a:rPr>
              <a:t>⚠  Joblib files are large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7832" y="1234440"/>
            <a:ext cx="2788920" cy="2148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1234440"/>
            <a:ext cx="2788920" cy="73152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1344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6B"/>
                </a:solidFill>
                <a:latin typeface="Courier New"/>
              </a:rPr>
              <a:t>deep_learning/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73736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dl_metrics.csv, classwise_report.csv,
histories/*.json (training curves),
weights/*.pt (6 PyTorch weight files)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834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F17"/>
                </a:solidFill>
                <a:latin typeface="Calibri"/>
              </a:rPr>
              <a:t>⚠  .pt files are hundreds of 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234440"/>
            <a:ext cx="2788920" cy="2148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234440"/>
            <a:ext cx="278892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344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ourier New"/>
              </a:rPr>
              <a:t>transformer/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173736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history.json, transformer_metrics.csv,
transformer_classwise_report.csv,
model/ (config + model.safetensors + tokenizer)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834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F17"/>
                </a:solidFill>
                <a:latin typeface="Calibri"/>
              </a:rPr>
              <a:t>⚠  model.safetensors ~260 MB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3416" y="1234440"/>
            <a:ext cx="2788920" cy="2148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234440"/>
            <a:ext cx="2788920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1344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F17"/>
                </a:solidFill>
                <a:latin typeface="Courier New"/>
              </a:rPr>
              <a:t>topic_modeling/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173736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topic_name_mapping.json,
topic_top_words_by_emotion.json,
emotion_topic_counts.csv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834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F17"/>
                </a:solidFill>
                <a:latin typeface="Calibri"/>
              </a:rPr>
              <a:t>⚠  Part of overall gitignored folder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520440"/>
            <a:ext cx="2788920" cy="2148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520440"/>
            <a:ext cx="2788920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630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Courier New"/>
              </a:rPr>
              <a:t>priority_scoring/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02336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emotion_weights.json, topic_weights.json,
urgency_keywords.json,
topic_assignments_master.csv (~2 MB)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120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F17"/>
                </a:solidFill>
                <a:latin typeface="Calibri"/>
              </a:rPr>
              <a:t>⚠  Master CSV is 2 MB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27832" y="3520440"/>
            <a:ext cx="2788920" cy="2148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27832" y="3520440"/>
            <a:ext cx="2788920" cy="7315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3630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360C"/>
                </a:solidFill>
                <a:latin typeface="Courier New"/>
              </a:rPr>
              <a:t>human_review/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9272" y="402336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human_review_queue.csv
(60-item QA queue)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9272" y="5120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F17"/>
                </a:solidFill>
                <a:latin typeface="Calibri"/>
              </a:rPr>
              <a:t>⚠  Part of overall gitignored folder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35624" y="3520440"/>
            <a:ext cx="2788920" cy="2148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35624" y="3520440"/>
            <a:ext cx="2788920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7064" y="3630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ourier New"/>
              </a:rPr>
              <a:t>summary/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7064" y="402336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full_model_comparison.csv
(source of model_comparison SQL table)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5120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F17"/>
                </a:solidFill>
                <a:latin typeface="Calibri"/>
              </a:rPr>
              <a:t>⚠  Part of overall gitignored folder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43416" y="3520440"/>
            <a:ext cx="2788920" cy="2148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43416" y="3520440"/>
            <a:ext cx="2788920" cy="73152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34856" y="3630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ourier New"/>
              </a:rPr>
              <a:t>emotion_analysis.db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402336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F"/>
                </a:solidFill>
                <a:latin typeface="Calibri"/>
              </a:rPr>
              <a:t>Full analytics DB copy
bundled with experiment run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6" y="5120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F17"/>
                </a:solidFill>
                <a:latin typeface="Calibri"/>
              </a:rPr>
              <a:t>⚠  ~2.7 MB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Findings &amp;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3611880" cy="12801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9144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Transformer advantage is modest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0992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DistilBERT (92.72%) beats best classical by only ~3.4%
LinearSVC deployed for lightweight serving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234440"/>
            <a:ext cx="3611880" cy="12801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234440"/>
            <a:ext cx="91440" cy="12801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3258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76D2"/>
                </a:solidFill>
                <a:latin typeface="Calibri"/>
              </a:rPr>
              <a:t>Unigrams win the sweep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70992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Unigram (1,1) + 5k vocab outperforms all richer
n-gram configurations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234440"/>
            <a:ext cx="3611880" cy="12801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234440"/>
            <a:ext cx="91440" cy="128016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3258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6B"/>
                </a:solidFill>
                <a:latin typeface="Calibri"/>
              </a:rPr>
              <a:t>Priority scoring 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0992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Negative emotions (anger, fear, sadness) get highest
business priority scores — directionally correct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651760"/>
            <a:ext cx="3611880" cy="12801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91440" cy="12801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432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7F17"/>
                </a:solidFill>
                <a:latin typeface="Calibri"/>
              </a:rPr>
              <a:t>GRU = best DL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2724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90.97% accuracy — within 2 pts of DistilBERT
BiLSTM severely underperforms (training issue)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2651760"/>
            <a:ext cx="3611880" cy="12801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2651760"/>
            <a:ext cx="91440" cy="12801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27432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  <a:latin typeface="Calibri"/>
              </a:rPr>
              <a:t>Confidence thresholding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12724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At threshold 0.90: 99.43% accuracy on 49% of data
Great for high-stakes automated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2651760"/>
            <a:ext cx="3611880" cy="12801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0" y="2651760"/>
            <a:ext cx="91440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7432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  <a:latin typeface="Calibri"/>
              </a:rPr>
              <a:t>RAG adds 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12724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Grounded, evidence-backed Q&amp;A about customer emotions
Works extractively without OpenAI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206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Limitations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4617720"/>
            <a:ext cx="11521440" cy="1371600"/>
          </a:xfrm>
          <a:prstGeom prst="roundRect">
            <a:avLst/>
          </a:prstGeom>
          <a:solidFill>
            <a:srgbClr val="EC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681728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  <a:latin typeface="Calibri"/>
              </a:rPr>
              <a:t>Small single-domain dataset (16K tweets) — may not generalize to emails / tickets   ·   BiLSTM result unreliable — training issue to revisit   ·   RAG generation requires external OpenAI API key   ·   Minority classes (love, surprise) carry high metric variance (few test examples)   ·   No multi-label support — assumes one emotion per 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560320"/>
            <a:ext cx="667512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3F2FD"/>
                </a:solidFill>
                <a:latin typeface="Calibri"/>
              </a:rPr>
              <a:t>Customer Sentiment &amp; Emotion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8909C"/>
                </a:solidFill>
                <a:latin typeface="Calibri"/>
              </a:rPr>
              <a:t>9 Models  ·  6 Emotions  ·  30 SQL Queries  ·  Live Streamlit App  ·  Docker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977639"/>
            <a:ext cx="5760720" cy="65836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4069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github.com/KirellosNader/emotion-intelligence-platform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3F2FD"/>
                </a:solidFill>
                <a:latin typeface="Calibri"/>
              </a:rPr>
              <a:t>Kirellos Nader   ·   Fayrous Hassan   ·   Loaa Elshatby   ·   Karim Yunis   ·   Mazen Eldayash   ·   Luay Mohamed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  <a:latin typeface="Calibri"/>
              </a:rPr>
              <a:t>September 2026  ·  TechTrek Final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